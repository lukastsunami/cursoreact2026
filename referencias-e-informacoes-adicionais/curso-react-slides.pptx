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20"/>
    <p:sldId id="275" r:id="rId21"/>
    <p:sldId id="280" r:id="rId26"/>
    <p:sldId id="281" r:id="rId27"/>
    <p:sldId id="282" r:id="rId28"/>
    <p:sldId id="371" r:id="rId122"/>
    <p:sldId id="372" r:id="rId123"/>
    <p:sldId id="272" r:id="rId18"/>
    <p:sldId id="273" r:id="rId19"/>
    <p:sldId id="370" r:id="rId121"/>
    <p:sldId id="276" r:id="rId22"/>
    <p:sldId id="277" r:id="rId23"/>
    <p:sldId id="278" r:id="rId24"/>
    <p:sldId id="279" r:id="rId25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7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8.xml"/><Relationship Id="rId57" Type="http://schemas.openxmlformats.org/officeDocument/2006/relationships/slide" Target="slides/slide59.xml"/><Relationship Id="rId58" Type="http://schemas.openxmlformats.org/officeDocument/2006/relationships/slide" Target="slides/slide60.xml"/><Relationship Id="rId59" Type="http://schemas.openxmlformats.org/officeDocument/2006/relationships/slide" Target="slides/slide61.xml"/><Relationship Id="rId60" Type="http://schemas.openxmlformats.org/officeDocument/2006/relationships/slide" Target="slides/slide62.xml"/><Relationship Id="rId61" Type="http://schemas.openxmlformats.org/officeDocument/2006/relationships/slide" Target="slides/slide63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slide" Target="slides/slide68.xml"/><Relationship Id="rId67" Type="http://schemas.openxmlformats.org/officeDocument/2006/relationships/slide" Target="slides/slide69.xml"/><Relationship Id="rId68" Type="http://schemas.openxmlformats.org/officeDocument/2006/relationships/slide" Target="slides/slide70.xml"/><Relationship Id="rId69" Type="http://schemas.openxmlformats.org/officeDocument/2006/relationships/slide" Target="slides/slide71.xml"/><Relationship Id="rId70" Type="http://schemas.openxmlformats.org/officeDocument/2006/relationships/slide" Target="slides/slide72.xml"/><Relationship Id="rId71" Type="http://schemas.openxmlformats.org/officeDocument/2006/relationships/slide" Target="slides/slide73.xml"/><Relationship Id="rId72" Type="http://schemas.openxmlformats.org/officeDocument/2006/relationships/slide" Target="slides/slide74.xml"/><Relationship Id="rId73" Type="http://schemas.openxmlformats.org/officeDocument/2006/relationships/slide" Target="slides/slide75.xml"/><Relationship Id="rId74" Type="http://schemas.openxmlformats.org/officeDocument/2006/relationships/slide" Target="slides/slide76.xml"/><Relationship Id="rId75" Type="http://schemas.openxmlformats.org/officeDocument/2006/relationships/slide" Target="slides/slide77.xml"/><Relationship Id="rId76" Type="http://schemas.openxmlformats.org/officeDocument/2006/relationships/slide" Target="slides/slide78.xml"/><Relationship Id="rId77" Type="http://schemas.openxmlformats.org/officeDocument/2006/relationships/slide" Target="slides/slide79.xml"/><Relationship Id="rId78" Type="http://schemas.openxmlformats.org/officeDocument/2006/relationships/slide" Target="slides/slide80.xml"/><Relationship Id="rId79" Type="http://schemas.openxmlformats.org/officeDocument/2006/relationships/slide" Target="slides/slide81.xml"/><Relationship Id="rId80" Type="http://schemas.openxmlformats.org/officeDocument/2006/relationships/slide" Target="slides/slide82.xml"/><Relationship Id="rId81" Type="http://schemas.openxmlformats.org/officeDocument/2006/relationships/slide" Target="slides/slide83.xml"/><Relationship Id="rId82" Type="http://schemas.openxmlformats.org/officeDocument/2006/relationships/slide" Target="slides/slide84.xml"/><Relationship Id="rId83" Type="http://schemas.openxmlformats.org/officeDocument/2006/relationships/slide" Target="slides/slide85.xml"/><Relationship Id="rId84" Type="http://schemas.openxmlformats.org/officeDocument/2006/relationships/slide" Target="slides/slide86.xml"/><Relationship Id="rId85" Type="http://schemas.openxmlformats.org/officeDocument/2006/relationships/slide" Target="slides/slide87.xml"/><Relationship Id="rId86" Type="http://schemas.openxmlformats.org/officeDocument/2006/relationships/slide" Target="slides/slide88.xml"/><Relationship Id="rId87" Type="http://schemas.openxmlformats.org/officeDocument/2006/relationships/slide" Target="slides/slide89.xml"/><Relationship Id="rId88" Type="http://schemas.openxmlformats.org/officeDocument/2006/relationships/slide" Target="slides/slide90.xml"/><Relationship Id="rId89" Type="http://schemas.openxmlformats.org/officeDocument/2006/relationships/slide" Target="slides/slide91.xml"/><Relationship Id="rId90" Type="http://schemas.openxmlformats.org/officeDocument/2006/relationships/slide" Target="slides/slide92.xml"/><Relationship Id="rId91" Type="http://schemas.openxmlformats.org/officeDocument/2006/relationships/slide" Target="slides/slide93.xml"/><Relationship Id="rId92" Type="http://schemas.openxmlformats.org/officeDocument/2006/relationships/slide" Target="slides/slide94.xml"/><Relationship Id="rId93" Type="http://schemas.openxmlformats.org/officeDocument/2006/relationships/slide" Target="slides/slide95.xml"/><Relationship Id="rId94" Type="http://schemas.openxmlformats.org/officeDocument/2006/relationships/slide" Target="slides/slide96.xml"/><Relationship Id="rId95" Type="http://schemas.openxmlformats.org/officeDocument/2006/relationships/slide" Target="slides/slide97.xml"/><Relationship Id="rId96" Type="http://schemas.openxmlformats.org/officeDocument/2006/relationships/slide" Target="slides/slide98.xml"/><Relationship Id="rId97" Type="http://schemas.openxmlformats.org/officeDocument/2006/relationships/slide" Target="slides/slide99.xml"/><Relationship Id="rId98" Type="http://schemas.openxmlformats.org/officeDocument/2006/relationships/slide" Target="slides/slide100.xml"/><Relationship Id="rId99" Type="http://schemas.openxmlformats.org/officeDocument/2006/relationships/slide" Target="slides/slide101.xml"/><Relationship Id="rId100" Type="http://schemas.openxmlformats.org/officeDocument/2006/relationships/slide" Target="slides/slide102.xml"/><Relationship Id="rId101" Type="http://schemas.openxmlformats.org/officeDocument/2006/relationships/slide" Target="slides/slide103.xml"/><Relationship Id="rId102" Type="http://schemas.openxmlformats.org/officeDocument/2006/relationships/slide" Target="slides/slide104.xml"/><Relationship Id="rId103" Type="http://schemas.openxmlformats.org/officeDocument/2006/relationships/slide" Target="slides/slide105.xml"/><Relationship Id="rId104" Type="http://schemas.openxmlformats.org/officeDocument/2006/relationships/slide" Target="slides/slide106.xml"/><Relationship Id="rId105" Type="http://schemas.openxmlformats.org/officeDocument/2006/relationships/slide" Target="slides/slide107.xml"/><Relationship Id="rId106" Type="http://schemas.openxmlformats.org/officeDocument/2006/relationships/slide" Target="slides/slide108.xml"/><Relationship Id="rId107" Type="http://schemas.openxmlformats.org/officeDocument/2006/relationships/slide" Target="slides/slide109.xml"/><Relationship Id="rId108" Type="http://schemas.openxmlformats.org/officeDocument/2006/relationships/slide" Target="slides/slide110.xml"/><Relationship Id="rId109" Type="http://schemas.openxmlformats.org/officeDocument/2006/relationships/slide" Target="slides/slide111.xml"/><Relationship Id="rId110" Type="http://schemas.openxmlformats.org/officeDocument/2006/relationships/slide" Target="slides/slide112.xml"/><Relationship Id="rId111" Type="http://schemas.openxmlformats.org/officeDocument/2006/relationships/slide" Target="slides/slide113.xml"/><Relationship Id="rId112" Type="http://schemas.openxmlformats.org/officeDocument/2006/relationships/slide" Target="slides/slide114.xml"/><Relationship Id="rId113" Type="http://schemas.openxmlformats.org/officeDocument/2006/relationships/slide" Target="slides/slide115.xml"/><Relationship Id="rId114" Type="http://schemas.openxmlformats.org/officeDocument/2006/relationships/slide" Target="slides/slide116.xml"/><Relationship Id="rId115" Type="http://schemas.openxmlformats.org/officeDocument/2006/relationships/slide" Target="slides/slide117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Relationship Id="rId121" Type="http://schemas.openxmlformats.org/officeDocument/2006/relationships/slide" Target="slides/slide26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 à seleção de poltronas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JSX, SVG, listas, props — e o primeiro estado do projeto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fase-1 · fase-2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29184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fase-3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slides de apresentação (1–8) permanecem no deck atual e vêm antes deste bloco.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 qualquer momento — pode interromper mesmo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hands-on: eu mostro, vocês acompanham no seu ritmo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de TODAS as fases está no repositório — ninguém fica pra trás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são o juiz: verde = seguimos em frente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UI — não é framework: ela só cuida da interface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Declarativo: você descreve o resultado, o React cuida do DOM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função que retorna interface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(rotas, dados, estado global) a comunidade resolve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imperativo (DOM na mão)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document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.createElement("rect");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el.classList.add("assento");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mapa.appendChild(el);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declarativo (React)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 numero={27}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status="disponivel"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Apresentando o desafio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95224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/fase-9 · npm run dev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rodar a ÚLTIMA fase juntos, agora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da home até o teatro, escolher poltronas, ver bloqueio em tempo real, comprar, checkout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raso de Ticketmaster / Ingresso.com — mas para teatros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isso que vocês vão construir nas 5 aulas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54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seleciona uma ou mais poltronas para comprar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700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 pode estar indisponível: ocupada ou quebrada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78561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você escolhe, poltronas podem ficar indisponíveis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956048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90118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Fileira ou setor inteiro reservado (convidados especiais)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9344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1554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Assentos para pessoas com necessidades especiais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5080" y="2724912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26700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ou fileira embargado para obras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55080" y="3840480"/>
            <a:ext cx="457200" cy="45720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785616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livre, pagante ou exclusivo (ex.: Bradesco)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React resolve isso?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pedaço da tela vira um componente com um papel claro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muda → o React re-renderiza só o necessário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1F7A6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&lt;svg viewBox&gt;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6664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2920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global de renderização, dados e estado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9584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plateia, balcão…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16168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92424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com regras próprias (embargo, acesso)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Fileira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05672" y="3543300"/>
            <a:ext cx="448056" cy="0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81928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assentos, barreira de vizinhança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08592" y="3063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8592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 27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42062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se desenhar e recebe o onClick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Baixando o projeto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34086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&amp;&amp; npm install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/fase-0 até /fase-9 — cada uma é o projeto COMPLETO daquela fase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perdeu? Abre a pasta da fase e segue dali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/fase-9 é o projeto pronto — pode espiar quando quiser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passo a passo acompanham cada fase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pelo boilerplate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já configurados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CSS e SVGs prontos — design não é o foco do curso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e React Router já configurados (viram aula nas aulas 2 e 4)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testes completa — toda vermelha, por enquanto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ADRs: o porquê de cada tecnologia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019556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Architecture Decision Record: o PORQUÊ de cada escolha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tecnologia: Vite, TypeScript, MSW, Immer, Zustand, Router, RHF, Zod, Testing Library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ler um juntos agora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times profissionais registram decisões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Playbooks: como configurei cada coisa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48590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/docs/playbooks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tecnologia foi configurada, passo a passo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porquê de cada opção de configuração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do curso: toda tecnologia nova → ADR + playbook dela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material de consulta quando estiver sozinho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juiz: npm test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vermelho — e está certo: os testes descrevem o que ainda vamos construir.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erro juntos: o teste diz exatamente o que falta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termina com um bloco de testes ficando verde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e o escopo do this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tradicional cria o PRÓPRIO this — e ele muda conforme quem chama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não cria this: herda do escopo onde foi escrita (léxico) — por isso o React moderno é 100% arrow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— this quebra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fileira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"A",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assentos: [1, 2, 3],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listar()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this.assentos.forEach(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 (a)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this AQUI nao e a fileira!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console.log(this.numero, a);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-&gt; undefined 1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— this herdado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fileira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"A",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assentos: [1, 2, 3],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listar()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this.assentos.forEach((a) =&gt;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arrow nao cria this: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herda o de listar()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console.log(this.numero, a);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-&gt; "A" 1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literals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Crase no lugar de aspas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${} interpola qualquer expressão JS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Multilinha sem gambiarra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`Poltrona ${numero} — R$ ${preco}`;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rotulo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`${fileira.nome}${assento.numero}`;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"A27"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valores direto pro nome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objeto e com array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vamos receber props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numero, preco } = assento;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[primeira, segunda] = fileiras;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nas props, daqui a pouco: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Assento({ numero, preco })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criando um NOVO array ou objeto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original fica intacto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mesmo vamos usar no toggle de seleção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novaLista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[...selecionadas, 27];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atualizado =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...assento,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"ocupado",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/ export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default: um por arquivo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nomeado: quantos quiser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import espelha a escolha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Assento.tsx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Assento() { /*...*/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Teatro.tsx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Teatro() {}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App.tsx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Teatro from "./Teatro";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Assento } from "./Assento";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componente: CartaoTeatro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1858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21442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/src/componentes/CartaoTeatro.tsx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função que retorna JSX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sempre com maiúscula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na listagem de teatros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CartaoTeatro.tsx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CartaoTeatro()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className="cartao"&gt;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&lt;h3&gt;Teatro Municipal&lt;/h3&gt;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= expressão JS no meio da marcação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no lugar de class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em camelCase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é expressão: dá pra guardar em variável, retornar, passar adiante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nome = "Teatro Municipal";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 className="titulo-cartao"&gt;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{nome}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nota {nota}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desce do pai pro filho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direto na assinatura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guiam o contrato: passou errado, o editor grita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pai: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&lt;CartaoTeatro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titulo="Teatro Municipal"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descricao="O clássico de SP"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nota={4.8}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qualquer teatro,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mesmo cartão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filho: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CartaoTeatro(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titulo, nota }: CartaoTeatroProps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/* ... */ 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Listas: map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transforma dado em componente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de JSX é renderizável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listagem inteira nasce do array de teatros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PaginaListaTeatros({ teatros })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{teatros.map((t)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&lt;CartaoTeatro {...t}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 key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precisa identificar cada item entre um render e outro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key: warning no console + bugs de reconciliação (estado trocando de lugar)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estável e única — nunca o index se a lista muda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 warning ao vivo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{teatros.map((t)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&lt;CartaoTeatro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key={t.teatroId}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{...t}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= identidade do item,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nao posicao na lista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inicial + navegação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/src/paginas/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"reserve seu assento", prova social, selos de confiança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leva pra /teatros; clique no cartão leva pro teatro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Link já vem pronto do boilerplate — a caixa-preta abre na aula 4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tipos de espetáculo sobre imagens de teatro e ópera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 listagem funcionando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props, map/key e a navegação até o teatro — tudo em uso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algum passo? /fase-1 é o seu ponto de resgate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SVG?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vetorial: o desenho é descrito por tags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rect, path, g, text — elementos, como no HTML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divs? Escala infinita, formas curvas, precisão de coordenadas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pra um mapa de teatro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&lt;path d="M 0 80 Q 500 0 ..."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&lt;rect x="120" y="300"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width="18" height="16"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 x="60" y="40"&gt;Palco&lt;/text&gt;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&lt;/svg&gt;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viewBox e coordenadas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viewBox define o "palco" do desenho: origem, largura e altura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lá dentro usa o MESMO sistema de coordenadas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mantém palco, plateia e balcão em escala entre si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é o dono do viewBox — todo mundo desenha dentro dele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viewBox="0 0 1000 700"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|  |  |    |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x  y  larg alt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(0,0) = canto superior esquerdo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palco:   y de 0 a 80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plateia: y de 120 a 500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balcao:  y de 540 a 700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Teatro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1858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21442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/src/componentes/Teatro.tsx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receita do CartaoTeatro — agora devolvendo SVG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sempre com maiúscula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na página do teatro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Teatro.tsx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o palco de tudo */}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renderiza &lt;Setor /&gt;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renderiza &lt;Fileira /&gt;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pequenos, cada um com um papel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enquanto hardcoded — dados de verdade já já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&lt;Setor nome="Plateia A"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&lt;Setor nome="Balcao"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tipos do nosso domínio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33045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56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/src/tipos.ts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slide de TypeScript do curso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já estão prontos no repo — a gente só LÊ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documentam o domínio e o editor avisa quando algo não bate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curso de TS — os tipos trabalham PRA gente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tipos.ts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Assento =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acessibilidade: boolean;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"disponivel" | "ocupado"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"bloqueado"  | "quebrado"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"reservadoEspecial";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coordinateX: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coordinateY: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angulo: number;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Fileira = { /* ... */ };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Setor   = { /* ... */ };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desenhamos um assento?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coordinateX / coordinateY posicionam no mapa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angulo rotaciona — fileiras em curva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shape é um rect reaproveitado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vira desenho: o assento SABE se desenhar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x={coordinateX}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y={coordinateY}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width={18} height={16} rx={3}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transform={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`rotate(${angulo}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${coordinateX} ${coordinateY})`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Assento: quem se desenha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9631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/src/componentes/Assento.tsx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recebe os dados e devolve o desenho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da poltrona como &lt;text&gt; por cima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base agora; status e cores na aula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Assento.tsx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Assento(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numero, coordinateX,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coordinateY, angulo }: Props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 transform={`rotate(...)`}&gt;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&lt;rect x={coordinateX}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y={coordinateY}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...&gt;{numero}&lt;/text&gt;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vários elementos sem criar um wrapper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SVG, uma tag estranha quebraria o desenho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&lt;&gt;...&lt;/&gt; é o atalho de &lt;Fragment&gt;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key={1}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key={2}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&lt;Assento key={3}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nenhum no extra no SVG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Subindo os níveis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/src/dados/layout.json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map de fileiras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Teatro: map de setores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globalLayoutData importado de um JSON local — sem fetch ainda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INTEIRA nasce dos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 COMPLETO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layout from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"../dados/layout.json";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Teatro()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&lt;svg viewBox="0 0 1000 700"&gt;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{layout.setores.map((s) =&gt;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&lt;Setor key={s.id} {...s}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&lt;/svg&gt;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 inteiro renderizado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composição, props, map/key, Fragment — tudo em uso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algum passo? /fase-2 é o seu ponto de resgate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Eventos: onClick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camelCase: onClick, não onclick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uma FUNÇÃO, não uma string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no console que dispara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`cliquei na ${numero}`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useState: anatomia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função que atualiza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→ React re-renderiza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mutar o valor direto (guardem essa — aula 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[selecionadas,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setSelecionadas]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useState&lt;number[]&gt;([]);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ciclo: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evento -&gt; setSelecionadas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-&gt; re-render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-&gt; tela nova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preso no filho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cada Assento guardasse o próprio "selecionado"?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não fica sabendo de NADA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contagem, sem comprar, sem regra de vizinhança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 sem saída → o estado precisa SUBIR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494276" y="1508760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1F7A6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94276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Teatro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929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poltronasSelecionadas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4276" y="2587752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4276" y="2633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94276" y="3666744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4276" y="37124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94276" y="4745736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1F5F3"/>
          </a:solidFill>
          <a:ln w="15875">
            <a:solidFill>
              <a:srgbClr val="1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4276" y="47914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94276" y="5166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08476" y="1691640"/>
            <a:ext cx="0" cy="3621024"/>
          </a:xfrm>
          <a:prstGeom prst="line">
            <a:avLst/>
          </a:prstGeom>
          <a:noFill/>
          <a:ln w="31750">
            <a:solidFill>
              <a:srgbClr val="2FB3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80476" y="5312664"/>
            <a:ext cx="0" cy="-3621024"/>
          </a:xfrm>
          <a:prstGeom prst="line">
            <a:avLst/>
          </a:prstGeom>
          <a:noFill/>
          <a:ln w="31750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999232"/>
            <a:ext cx="3168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descem</a:t>
            </a:r>
            <a:endParaRPr lang="en-US" sz="1450" dirty="0"/>
          </a:p>
          <a:p>
            <a:pPr algn="r" indent="0" marL="0">
              <a:buNone/>
            </a:pPr>
            <a:r>
              <a:rPr lang="en-US" sz="1450" b="1" dirty="0">
                <a:solidFill>
                  <a:srgbClr val="1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63356" y="2999232"/>
            <a:ext cx="3168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sobem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callback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mora no ancestral comum mais próximo de quem precisa dele.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aoSelecionar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nasce no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por props: Setor → Fileira → Assento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DE PROPÓSITO — sintam a dor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mostra a alternativa pra casos certos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Teatro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&lt;Setor {...s}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Setor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&lt;Fileira {...f}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Fileira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 {...a}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aoSelecionar={aoSelecionar}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de seleção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adiciona, filter remove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array NOVO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a fundo → aula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aoSelecionar(n: number)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setSelecionadas((atual)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atual.includes(n)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atual.filter(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(x) =&gt; x !== 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[...atual, n]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visual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selecionado desce por props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Classe/cor diferente no rect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completo: clique → estado → re-render → visual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{...a}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selecionado={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selecionadas.includes(a.numero)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Assento: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className={selecionado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"assento--selecionado"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"assento"} 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aula 1: seleção funcionando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Teatro inteiro na tela e poltronas selecionáveis — em UMA aula.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onClick, useState, lifting state up, toggle imutável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componentes, JSX, SVG, props, map/key, Fragment, useState, lifting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JSX não é mágica — vira JS puro (Vite/Babel transpilam)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resto do curso constrói em cima do que vocês viram hoje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Regras de negócio e dados de verdade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de verdade: spread puro → Immer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 e regras do teatro na tela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layout vindo de uma API (mockada com MSW)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e dados de verdade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com Immer, status dos assentos, regras herdadas e fetch com MSW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navegação, teatro renderizado + seleção funcionando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regras de negócio completas + dados vindos de "API"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terminou a aula 1: abre /fase-3 e está pareado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Imutabilidade: por quê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compara por REFERÊNCIA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Mutou o array = mesma referência = nada re-renderiza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 bug ao vivo: a seleção que não aparece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ERRADO: mutando o state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selecionadas.push(numero);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setSelecionadas(selecionadas);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mesma referencia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React: "nada mudou"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tela nao atualiza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puro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imutável: sempre um novo array/objeto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que já usamos no toggle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lindo… em estruturas rasas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[...selecionadas, numero]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setAssento({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...assento,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"ocupado",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spread dói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assento = reescrever a árvore toda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Legível? Não. Propenso a erro? Muito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PIRÂMIDE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setLayout({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...layout,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setores: layout.setores.map((s) =&gt;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s.id !== setorId ? s :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...s,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fileiras: s.fileiras.map((f) =&gt;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f.id !== fileiraId ? f :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...f,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assentos: f.assentos.map(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(a) =&gt; a.numero !== n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 { ...a,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status: "ocupado" }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81762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3543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/docs/adr/immer.md · /docs/playbooks/immer.md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como mutação, sai imutável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entrega um draft seguro pra "mutar"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pirâmide, em 4 linhas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produce } from "immer";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setLayout(produce((draft)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assento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acharAssento(draft, numero);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assento.status = "ocupado";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Refatorando o toggle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comportamento de ontem, com Immer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continuam verdes — refactor seguro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raso = spread; aninhado = Immer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(spread)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setSelecionadas((atual) =&gt;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atual.includes(n)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atual.filter(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(x) =&gt; x !== 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[...atual, n]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975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(immer)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86400" cy="3858768"/>
          </a:xfrm>
          <a:prstGeom prst="roundRect">
            <a:avLst>
              <a:gd name="adj" fmla="val 1896"/>
            </a:avLst>
          </a:prstGeom>
          <a:solidFill>
            <a:srgbClr val="1E2B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432304"/>
            <a:ext cx="508406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setSelecionadas(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produce((draft) =&gt;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 = draft.indexOf(n);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&gt;= 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draft.splice(i, 1)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draft.push(n);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derivado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quantidadePoltronasSelecionadas NÃO é outro useState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pra calcular a partir do estado, calcule no render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duplicado = fonte de bug (dessincroniza)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NAO faca: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[qtd, setQtd] = useState(0)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faca: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quantidade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selecionadas.length;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selecionadas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.reduce(somaPrecos, 0);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Renderização condicional: o kit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no JSX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para "mostra ou nada"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 pra casos grandes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ternario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{disponivel ? &lt;Livre/&gt; : &lt;Ocupado/&gt;}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&amp;&amp; (mostra ou nada)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{acessibilidade &amp;&amp; &lt;IconePcd /&gt;}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early return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 === "quebrado")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&lt;AssentoQuebrado /&gt;;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 assento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status com visual próprio: disponivel, ocupado, bloqueado, quebrado, reservadoEspecial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Indisponível não dispara seleção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JSON manda, o componente obedece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podeSelecionar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=== "disponivel";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className={`assento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assento--${status}`}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onClick={podeSelecionar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() =&gt; aoSelecionar(numero)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undefined}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herdadas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embargado bloqueia tudo abaixo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Fileira reservada ou em manutenção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tipoAcesso: livre | pagante | exclusivoBradesco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mescladas descendo a hierarquia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Setor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&lt;Fileira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{...f}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regrasHerdadas={{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embargado,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tipoAcesso,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Fileira decide o efeito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repassa ao Assento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Assento PCD: ícone e estilo próprios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selecionável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acessibilidade: boolean já veio no tipo — o dado estava esperando a UI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regras de negócio na tela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herança de regras, acessibilidade — e o toggle com Immer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e async/await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um valor que ainda vai chegar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escrever assíncrono como se fosse síncrono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para o caminho triste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then/catch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buscar().then(usa).catch(trata);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async/await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dados = await buscar();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usa(dados);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trata(erro);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do navegador pra falar HTTP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checar resposta.ok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também é assíncrono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buscarLayout()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resposta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fetch("/api/layout");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(!resposta.ok)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Error("falhou");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resposta.json();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50672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3232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/docs/adr/msw.md · /docs/playbooks/msw.md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Service Worker: intercepta a requisição NO navegador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 verdade, sem back-end de verdade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mocks rodam nos testes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curso funciona offline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useEffect: anatomia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DEPOIS do render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de dependências controla quando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cleanup desfaz o que o efeito fez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efeito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cleanup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[deps]);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[]      -&gt; so na montagem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[x]     -&gt; quando x muda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(nada)  -&gt; todo render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inicial do layout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async/await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separada, não inline — organização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globalLayoutData agora vem da "API"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INICIAL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[layout, setLayout]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useState&lt;Layout | null&gt;(null);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buscarLayout()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.then(setLayout)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.catch(() =&gt; setErro(true));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e erro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novo — agora com dados assíncronos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carregamento e estado de falha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nunca vê tela quebrada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&lt;ErroDeCarga /&gt;;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(!layout)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&lt;Carregando /&gt;;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&lt;svg ...&gt;{/* mapa */}&lt;/svg&gt;;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teatros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Redondo, funil, quadrado, multi-andar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componente, layouts diferentes vindos da API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payoff de ter tudo data-driven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trocar o teatro sem tocar em componente nenhum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vindo da API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loading, erro e múltiplos teatros — tudo verde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imutabilidade (spread → Immer), status, herança, fetch + MSW + useEffect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fizemos fetch na mão pra APRENDER — react-query/SWR dão cache, retry e revalidação de graça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efeito + cleanup volta na próxima aula, em dose dupla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— Tempo real e carrinho global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atualizando sozinha (polling + cleanup)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useContext: o Teatro falando direto com o Assento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nasce no Zustand — fora do Teatro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 e carrinho global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com cleanup, useContext e o carrinho nascendo no Zustand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5740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fase-7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regras completas + layout vindo da API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 tela se mantém atualizada sozinha e o carrinho ganha vida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do tempo real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pessoa comprou a poltrona 27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tela nem ficou sabendo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tenta comprar a mesma poltrona… caos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 bug ao vivo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de tempos em tempos — simples e suficiente aqui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WebSocket/SSE EMPURRAM dados; polling PUXA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simplicidade vs latência/tráfego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um mapa de assentos, alguns segundos bastam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useEffect, mesmo padrão do fetch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refazendo a busca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clearInterval no retorno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buscarLayout()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.then(setLayout);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5000);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clearInterval(id);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cleanup existe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clearInterval: intervalos se acumulando a cada montagem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órfãs atualizando tela que nem existe mais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 monta 2x em dev — o vazamento aparece NA HORA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comentar o cleanup e ver o estrago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Simulando os outros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/src/mocks/handlers.ts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marca poltronas aleatórias como ocupadas/bloqueadas a cada resposta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reage sozinha — sem F5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"Outros compradores" sem back-end nenhum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final do teatro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Renderiza, seleciona, respeita as regras e se atualiza sozinha.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com cleanup + simulação de outros compradores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useContext: conceito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um valor direto na árvore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em cima, useContext embaixo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atravessar cada nível com props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TeatroContext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createContext&lt;InfoTeatro&gt;(...);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Teatro: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&lt;TeatroContext.Provider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value={{ estofada: true }}&gt;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{/* setores... */}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&lt;/TeatroContext.Provider&gt;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 na prática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Cadeiras estofadas ou não — varia por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fala DIRETO com o Assento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 Fileira nem ficam sabendo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Assento(props)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estofada }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useContext(TeatroContext);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&lt;rect className={estofada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"assento--estofado"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"assento"} ...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drilling vs Context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drilling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Explícito: dá pra seguir o fluxo lendo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pra poucos níveis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doloroso em árvores fundas (vocês sentiram)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direta na árvore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dado estático, de baixa frequência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Context NÃO é gerenciador de estado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vira slide inteiro na aula 5 — guardem.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do carrinho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→ reservar por um tempo → abrir a modal do carrinho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modal vive FORA da árvore do Teatro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não chegam lá — nem com drilling, nem com Context do Teatro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estado que viva fora da árvore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local vs global: a régua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— useState no Teatro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em andamento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Efêmero, morre com a tela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árvore do Teatro precisa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4160520"/>
          </a:xfrm>
          <a:prstGeom prst="roundRect">
            <a:avLst>
              <a:gd name="adj" fmla="val 2198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8288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— store (Zustand)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56032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Carrinho, reserva, modal aberta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fora do Teatro (e entre rotas)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pontos do app leem e escrevem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curso: o estado não vive só no Teatro, nem só no Zustand — cada um no seu lugar.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/docs/adr/zustand.md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devolve um HOOK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atualizam com set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Provider, sem boilerplate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ADR: por que Zustand e não Redux/Context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useCarrinho =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create&lt;CarrinhoStore&gt;((set) =&gt; ({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itens: [],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expiraEm: null,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carrinhoAberto: false,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adicionarAoCarrinho: (p) =&gt;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set({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itens: p,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expiraEm: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Date.now() + 5 * 60_000,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carrinhoAberto: true,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do carrinho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10769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8333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/src/stores/carrinho.ts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itens: as poltronas reservadas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expiraEm: o prazo da reserva (alimenta o holdTimer amanhã)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carrinhoAberto: controla a modal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adicionarAoCarrinho: marca a reserva temporária + abre a modal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Comprar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Teatro consome a store com um selector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seleção pra action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local → vira reserva global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adicionar = useCarrinho(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(s) =&gt; s.adicionarAoCarrinho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adicionar(selecionadas)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Comprar ({quantidade})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do Carrinho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574036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99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/src/componentes/Carrinho.tsx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Montada no App — FORA do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direto da store: itens, carrinhoAberto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prop atravessou a árvore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viva de por que estado global existe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&lt;Teatro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&lt;CarrinhoModal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CarrinhoModal le useCarrinho()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se mostra sozinha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abrindo com os itens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action, selector e modal fora da árvore — verdes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universo React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polling + cleanup, useContext, Zustand com modal fora da árvore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o Zustand tem middleware do Immer — os dois assuntos da semana se encontram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react-query cuidaria do polling inteiro por nós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Reserva com prazo e navegação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da reserva (holdTimer) e a expiração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Router: /teatro, /checkout, /sucesso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Zustand como cola entre as páginas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com prazo e navegação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holdTimer, expiração da reserva e React Router — com o Zustand de cola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fase-8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com folga proposital: é o colchão pra atrasos das aulas anteriores.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carrinho global abrindo com os itens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o relógio da reserva e a navegação entre páginas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quem manda é o carrinho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BASE vem do assento/setor (pode até ser gratuito)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Meia-entrada e ajustes são responsabilidade do carrinho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mostra, o carrinho decide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 que evita bug de cobrança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holdTimer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MODAL, não no Teatro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expiraEm da store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padrão da aula 3: efeito + cleanup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HOLDTIMER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setRestante(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expiraEm - Date.now()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1000);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clearInterval(id);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[expiraEm]);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expirou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 &lt;= 0 → action liberarAssentos()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Poltronas voltam a disponíveis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 da reserva temporária, fechado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(restante &lt;= 0)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liberarAssentos();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 store: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liberarAssentos: ()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itens: [],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expiraEm: null,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carrinhoAberto: false,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e navegação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só, várias "telas"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tela SEM recarregar o navegador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vira parte do estado do app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Router: abrindo a caixa-preta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97306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36987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/docs/adr/router.md · /docs/playbooks/router.md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rodava desde a fase-0 — agora explicamos o que estava embaixo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declaradas, Link no lugar de &lt;a&gt; — e o useParams da aula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já rodava desde a fase-0: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path="/" …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path="/teatros" …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path="/teatros/:nomeDoTeatro" …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novas hoje: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path="/checkout" …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 path="/sucesso" …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&lt;/Routes&gt;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do projeto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/, /teatros e /teatros/:nomeDoTeatro: já rodavam desde a fase-0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/checkout: esqueleto hoje, recheio na aula 5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/sucesso: confirmação com o resumo do pedido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como cola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do teatro pro checkout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continua lá — estado global sobrevive à troca de rota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dados trafegam entre páginas de forma limpa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Timer, expiração e rotas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com prazo fechada e navegação funcionando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Panorama: gerenciadores de estado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Toolkit, Jotai, MobX, Elf, Overmind…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problema, sabores diferentes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escolha: time, ecossistema, complexidade REAL do app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 a gente fecha esse mapa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Teaser: o problema dos formulários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grande com useState: re-render a CADA tecla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de setter pra cada campo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toda na mão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aula 5 resolve isso com elegância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JEITO RUIM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[nome, setNome]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[email, setEmail]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[cpf, setCpf] =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...12 campos depois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re-render a cada tecla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validacao na unha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Checkout profissional + o mundo lá fora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2044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Zod: formulários de gente grande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 fechado: teatro → checkout → sucesso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6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papo final: ecossistema, pragmatismo e próximos passos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9" name="Shape 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profissional + o mundo lá fora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Form, Zod, o fluxo completo — e a conversa honesta sobre o ecossistema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26383F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fase-9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5331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88366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14016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44368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74720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005072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35424" y="5806440"/>
            <a:ext cx="384048" cy="345643"/>
          </a:xfrm>
          <a:prstGeom prst="roundRect">
            <a:avLst>
              <a:gd name="adj" fmla="val 7937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64108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/fase-8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reserva com prazo + rotas funcionando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Lembram do formulário ruim de ontem? Hoje a gente faz o certo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Hook 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496312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/docs/adr/react-hook-form.md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components: o DOM guarda o valor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re-render a cada tecla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conecta o campo, handleSubmit entrega 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handleSubmit,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formState: { errors },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useForm&lt;Checkout&gt;();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{...register("nome")}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{...register("email")} /&gt;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563624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/docs/adr/zod.md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declarativo, valida em RUNTIME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TS protegem a compilação; o Zod guarda o runtime — os dados que entram de fora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resolver integra o schema ao React Hook Form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39696"/>
            <a:ext cx="5532120" cy="4005072"/>
          </a:xfrm>
          <a:prstGeom prst="roundRect">
            <a:avLst>
              <a:gd name="adj" fmla="val 1826"/>
            </a:avLst>
          </a:prstGeom>
          <a:solidFill>
            <a:srgbClr val="1E2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2286000"/>
            <a:ext cx="51297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CheckoutSchema = z.object({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z.string().min(3),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z.string().email(),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cpf: z.string().length(11),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resolver: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zodResolver(CheckoutSchema),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checkout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263140" cy="347472"/>
          </a:xfrm>
          <a:prstGeom prst="roundRect">
            <a:avLst>
              <a:gd name="adj" fmla="val 21053"/>
            </a:avLst>
          </a:prstGeom>
          <a:solidFill>
            <a:srgbClr val="F1F5F3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988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/src/paginas/Checkout.tsx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pessoais, endereço, forma de pagamento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vêm da store — a cola do Zustand em 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pedido ao lado do formulário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com Zod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por campo, vinda do schema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formState.errors alimenta a UI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só envia dado válido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{...register("email")} /&gt;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{errors.email &amp;&amp;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className="erro"&gt;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{errors.email.message}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&lt;/span&gt;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F7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Fechando o pedido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212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handleSubmit → POST no MSW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navigate("/sucesso")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 sucesso resgata o resumo da store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completo: teatro → carrinho → checkout → sucesso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28216"/>
            <a:ext cx="5532120" cy="4416552"/>
          </a:xfrm>
          <a:prstGeom prst="roundRect">
            <a:avLst>
              <a:gd name="adj" fmla="val 1656"/>
            </a:avLst>
          </a:prstGeom>
          <a:solidFill>
            <a:srgbClr val="1E2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7648" y="1874520"/>
            <a:ext cx="51297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aoEnviar = async (dados)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fetch("/api/pedidos",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"POST",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...dados,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itens,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navigate("/sucesso");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B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2763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Suíte INTEIRA verde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E443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86200" y="28803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0323B"/>
          </a:solidFill>
          <a:ln w="12700">
            <a:solidFill>
              <a:srgbClr val="1F7A6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8862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com /fase-9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completo. Cada teste que vocês viram vermelho na aula 1 agora passa.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/fase-9 = o app pronto que rodamos na primeira demo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ilusão da biblioteca única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é minimalista de propósito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comunidade cria soluções infinitas pro MESMO problema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"fadiga do ecossistema React" é real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stack a cada modismo é armadilha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 sem surtar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vs Styled vs Radix; Vite vs Webpack/Turbopack…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o problema de negócio e a manutenibilidade a longo prazo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 hype do momento no Twitter/X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isso que os ADRs deste projeto fizeram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guerra do estado: quando usar o quê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/ useReducer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puramente local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Efêmero de UI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 a componentes filhos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estática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frequência de mudança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usuário logado, config do teatro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56448" y="1600200"/>
            <a:ext cx="3483864" cy="4160520"/>
          </a:xfrm>
          <a:prstGeom prst="roundRect">
            <a:avLst>
              <a:gd name="adj" fmla="val 2625"/>
            </a:avLst>
          </a:prstGeom>
          <a:solidFill>
            <a:srgbClr val="F1F5F3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0768" y="18288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/ Redux / Jotai / MobX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2560320"/>
            <a:ext cx="2935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compartilhado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frequência ou complexidade de negócio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Carrinho, sessão, filas de requisição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alerta do Context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NÃO substitui gerenciador de estado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mudou → TODOS os consumidores re-renderizam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app complexa: cascata de re-renders na árvore inteira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pra injeção estática — como fizemos com as cadeiras estofadas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salto pro Next.js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→ SSR / SSG / RSC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SEO, carga inicial, hidratação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pesado vai pro servidor (Server Components)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Remix, Astro — por isso o mercado migra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tudo precisa de Next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interno fechado? SPA resolve — com menos dor de cabeça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com SPA pura (Vite) por isso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ferramenta tem limite de aplicabilidade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clássico: microsserviço e store global pra problema de useState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tem custo permanente — todo dia, pra sempre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simples; evolua quando a DOR for real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96596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melhor código não é o mais inteligente — é o que o próximo dev lê, altera e testa sem perder os cabelos.”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curso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5" name="Shape 3"/>
          <p:cNvSpPr/>
          <p:nvPr/>
        </p:nvSpPr>
        <p:spPr>
          <a:xfrm>
            <a:off x="514807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6" name="Shape 4"/>
          <p:cNvSpPr/>
          <p:nvPr/>
        </p:nvSpPr>
        <p:spPr>
          <a:xfrm>
            <a:off x="5586984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6025896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2FB380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690372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263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5665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9556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607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 — a documentação oficial é excelente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 fica no ar: fases, testes, ADRs e playbooks</a:t>
            </a:r>
            <a:endParaRPr lang="en-US" sz="17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sugerido: TypeScript a fundo → react-query → testes que VOCÊS escrevem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8" name="Shape 6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CFD8DC"/>
          </a:solidFill>
          <a:ln/>
        </p:spPr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C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96596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“Obrigado! Bora construir coisas.”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Caponi da Silva — Tsunami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5" name="Shape 3"/>
          <p:cNvSpPr/>
          <p:nvPr/>
        </p:nvSpPr>
        <p:spPr>
          <a:xfrm>
            <a:off x="514807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6" name="Shape 4"/>
          <p:cNvSpPr/>
          <p:nvPr/>
        </p:nvSpPr>
        <p:spPr>
          <a:xfrm>
            <a:off x="5586984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7" name="Shape 5"/>
          <p:cNvSpPr/>
          <p:nvPr/>
        </p:nvSpPr>
        <p:spPr>
          <a:xfrm>
            <a:off x="6025896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2FB380"/>
          </a:solidFill>
          <a:ln/>
        </p:spPr>
      </p:sp>
      <p:sp>
        <p:nvSpPr>
          <p:cNvPr id="8" name="Shape 6"/>
          <p:cNvSpPr/>
          <p:nvPr/>
        </p:nvSpPr>
        <p:spPr>
          <a:xfrm>
            <a:off x="6464808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9" name="Shape 7"/>
          <p:cNvSpPr/>
          <p:nvPr/>
        </p:nvSpPr>
        <p:spPr>
          <a:xfrm>
            <a:off x="6903720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2632" y="5303520"/>
            <a:ext cx="310896" cy="279806"/>
          </a:xfrm>
          <a:prstGeom prst="roundRect">
            <a:avLst>
              <a:gd name="adj" fmla="val 9804"/>
            </a:avLst>
          </a:prstGeom>
          <a:solidFill>
            <a:srgbClr val="3947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419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React — Aula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6988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562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6492240"/>
            <a:ext cx="137160" cy="123444"/>
          </a:xfrm>
          <a:prstGeom prst="roundRect">
            <a:avLst>
              <a:gd name="adj" fmla="val 22222"/>
            </a:avLst>
          </a:prstGeom>
          <a:solidFill>
            <a:srgbClr val="39474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2026-08-31T21:03:04Z</dcterms:created>
  <dcterms:modified xsi:type="dcterms:W3CDTF">2026-08-31T21:03:04Z</dcterms:modified>
</cp:coreProperties>
</file>